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10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228600"/>
            <a:ext cx="2286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JACK HENRY | JHBI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Payments Platform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Architecture — Version 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7772400" cy="0"/>
          </a:xfrm>
          <a:prstGeom prst="line">
            <a:avLst/>
          </a:prstGeom>
          <a:noFill/>
          <a:ln w="15240">
            <a:solidFill>
              <a:srgbClr val="2A4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data model for ACH · Wire · Card · Zelle · RTP · FedNow · Check · BillPay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1874520" cy="347472"/>
          </a:xfrm>
          <a:prstGeom prst="rect">
            <a:avLst/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FX / Multi-Currency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5456" y="4114800"/>
            <a:ext cx="1874520" cy="347472"/>
          </a:xfrm>
          <a:prstGeom prst="rect">
            <a:avLst/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05456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IBAN / BIC Addresses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07992" y="4114800"/>
            <a:ext cx="1874520" cy="347472"/>
          </a:xfrm>
          <a:prstGeom prst="rect">
            <a:avLst/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07992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Party Relationships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10528" y="4114800"/>
            <a:ext cx="1874520" cy="347472"/>
          </a:xfrm>
          <a:prstGeom prst="rect">
            <a:avLst/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Biller Registry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13064" y="4114800"/>
            <a:ext cx="1874520" cy="347472"/>
          </a:xfrm>
          <a:prstGeom prst="rect">
            <a:avLst/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13064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Block-and-Key 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A9B"/>
                </a:solidFill>
              </a:rPr>
              <a:t>March 2026  ·  Architecture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758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758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Architecture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1064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4-layer model: Raw → Silver → Identity → Gold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18562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8408" y="1856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Identity Schema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22037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party, account, address, rail references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2953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Block-and-Key 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3009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Deterministic resolution replacing ML ensemble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7764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97764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4050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" y="4050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On-Us / Off-Us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43982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Intrabank vs interbank classification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507492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507492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" y="5148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" y="5148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FX &amp; Multi-Currency 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54955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First-class columns for cross-rail FX reporting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5257800"/>
            <a:ext cx="41148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5257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63640" y="6858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3640" y="68580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28232" y="758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22008" y="758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IBAN / BIC Addresses 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22008" y="11064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International wire address model (SWIFT/ISO 20022)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1155680" y="868680"/>
            <a:ext cx="41148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155680" y="868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63640" y="178308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63640" y="178308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28232" y="18562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22008" y="1856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Party Relationships 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22008" y="22037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Joint accounts, signers, ownership, trust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1155680" y="1965960"/>
            <a:ext cx="41148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155680" y="19659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288036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63640" y="288036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28232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22008" y="2953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Biller Registry 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22008" y="33009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BillPay billers as canonical identity.party records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1155680" y="3063240"/>
            <a:ext cx="41148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1155680" y="3063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63640" y="397764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63640" y="397764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28232" y="4050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22008" y="4050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Security &amp; PCI/PII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922008" y="43982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Tokenization, vault model, RLS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263640" y="507492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63640" y="507492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28232" y="5148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10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922008" y="5148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Implementation Roadmap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922008" y="54955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Deployment order and v3 migration guide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057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205740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Source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iPay · EPS · Payrailz · BPS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FedNow GW · TCH RTP · Visa DPS · MC Connect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594360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59152" y="11155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760" y="685800"/>
            <a:ext cx="2057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685800"/>
            <a:ext cx="20574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685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📥 Raw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325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Source-faithful CDC tables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8 payment type tables, unchanged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594360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36592" y="11155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685800"/>
            <a:ext cx="2057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0" y="685800"/>
            <a:ext cx="20574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685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Silver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325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lake.unified_transactions v3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Single source of truth + FX + identity FKs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234440"/>
            <a:ext cx="594360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14032" y="11155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640" y="685800"/>
            <a:ext cx="2057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06640" y="685800"/>
            <a:ext cx="20574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06640" y="685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Identity Schema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1325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Canonical party · account · address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Relationships · Biller Registry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64040" y="1234440"/>
            <a:ext cx="594360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91472" y="11155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84080" y="685800"/>
            <a:ext cx="2057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784080" y="685800"/>
            <a:ext cx="20574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84080" y="685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Gold Layer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0" y="1325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Aggregated reporting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On-us/off-us · cross-currency volume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840480"/>
            <a:ext cx="11612880" cy="457200"/>
          </a:xfrm>
          <a:prstGeom prst="rect">
            <a:avLst/>
          </a:prstGeom>
          <a:solidFill>
            <a:srgbClr val="E8F0FB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858768"/>
            <a:ext cx="11247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</a:rPr>
              <a:t>Block-and-Key IR Service processes Silver layer async → writes party_id FKs → stamps identity_resolution_hook_ts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256032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8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27432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Payment Rails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4572000"/>
            <a:ext cx="256032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7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320040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Identity Tables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4572000"/>
            <a:ext cx="256032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28+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612648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New v3 Columns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52560" y="4572000"/>
            <a:ext cx="256032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05256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4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905256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Block-Key Rules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Identity Schema — Canonical Party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56692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identity.party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777240"/>
            <a:ext cx="658368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0" y="777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party_id (UUID PK)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party_type (INDIVIDUAL|BUSINESS|BILLER…)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911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name_token (vault → PII)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resolution_status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tenant_id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56692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identity.party_account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3520440"/>
            <a:ext cx="658368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is_on_us BOOLEAN ← core on-us indicator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institution_routing_number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6542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B52"/>
                </a:solidFill>
              </a:rPr>
              <a:t>▸ institution_swift_bic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9926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institution_iban_token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3309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account_number_token (vault → PCI)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68580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55080" y="685800"/>
            <a:ext cx="5669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685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identity.party_address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247120" y="777240"/>
            <a:ext cx="658368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247120" y="777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v3+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922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B52"/>
                </a:solidFill>
              </a:rPr>
              <a:t>▸ swift_bic / correspondent_bank_bic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B52"/>
                </a:solidFill>
              </a:rPr>
              <a:t>▸ iban_token (vault → PCI)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1911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B52"/>
                </a:solidFill>
              </a:rPr>
              <a:t>▸ iban_country_code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22494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B52"/>
                </a:solidFill>
              </a:rPr>
              <a:t>▸ bank_name / bank_address_token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25877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address_line1_token / address_line2_token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342900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55080" y="3429000"/>
            <a:ext cx="56692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identity.party_account_rail_ref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247120" y="3520440"/>
            <a:ext cx="658368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247120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RAILS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9224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rail_type (ACH|WIRE|CARD|ZELLE…)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92240" y="43159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rail_identifier_type (IBAN|SWIFT_BIC…)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92240" y="46542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rail_identifier_token (vault)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92240" y="49926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rail_identifier_plain (routing, BIC)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92240" y="53309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is_receiving_participant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Block-and-Key Identity Resolution  (v3 — replaces ML)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12140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212140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31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Transaction Arrives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9385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originator_party_id =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resolution_status = UNRESOLVED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50008" y="2057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87752" y="685800"/>
            <a:ext cx="212140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685800"/>
            <a:ext cx="212140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87752" y="731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79192" y="128016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Compute Block Key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9192" y="1828800"/>
            <a:ext cx="19385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routing:021000021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proxy:hash:abc123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account_prefix:tok_44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057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46904" y="685800"/>
            <a:ext cx="212140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46904" y="685800"/>
            <a:ext cx="21214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46904" y="731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38344" y="128016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Apply Match Rules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38344" y="1828800"/>
            <a:ext cx="19385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Priority order: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1. EXACT_TOKEN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2. ROUTING_ACCOUNT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3. PROXY_EXACT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4. NAME_ROUTING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68312" y="2057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06056" y="685800"/>
            <a:ext cx="212140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06056" y="685800"/>
            <a:ext cx="212140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06056" y="731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97496" y="128016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Resolve &amp; Write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97496" y="1828800"/>
            <a:ext cx="19385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mark_identity_resolved()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writes party_id FKs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stamps hook_ts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27464" y="2057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65208" y="685800"/>
            <a:ext cx="212140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65208" y="685800"/>
            <a:ext cx="212140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65208" y="731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756648" y="128016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Audit Event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756648" y="1828800"/>
            <a:ext cx="19385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party_resolution_event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block_key · match_rule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confidence_score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84048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Resolution Rules (in priority order):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60520"/>
          <a:ext cx="11521440" cy="2514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EXACT_TOKEN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Vault token matches exactly — highest confidence match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ROUTING_ACCOUNT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≥ 0.95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ABA routing number + account composite match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PROXY_EXACT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≥ 0.90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Email or phone alias exact match (Zelle, P2P rails)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NAME_ROUTING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≥ 0.80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Normalized name + routing number composite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NEW_PARTY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match found — create new canonical party record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On-Us / Off-Us Classification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394960" cy="5394960"/>
          </a:xfrm>
          <a:prstGeom prst="rect">
            <a:avLst/>
          </a:prstGeom>
          <a:solidFill>
            <a:srgbClr val="EBF8F1"/>
          </a:solidFill>
          <a:ln w="12700">
            <a:solidFill>
              <a:srgbClr val="A7D9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53949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ON-US Transaction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Both accounts at the SAME Financial Institution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is_on_us = TRUE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No external network message required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Settled internally — book transfer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on_us_settlement_type populated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Faster, zero interchange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Detection by Rail: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ACH:     ODFI routing = RDFI routing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Wire:    Originator FI = Beneficiary FI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5171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Zelle:   Sender FI = Receiver FI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097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RTP/FedNow: Instructing = Instructed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685800"/>
            <a:ext cx="5394960" cy="5394960"/>
          </a:xfrm>
          <a:prstGeom prst="rect">
            <a:avLst/>
          </a:prstGeom>
          <a:solidFill>
            <a:srgbClr val="EBF3FB"/>
          </a:solidFill>
          <a:ln w="12700">
            <a:solidFill>
              <a:srgbClr val="A7C4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46520" y="685800"/>
            <a:ext cx="5394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685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↔  OFF-US Transaction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Accounts at DIFFERENT Financial Institutions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6916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is_on_us = FALSE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External network message required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Settled via ACH, Fedwire, SWIFT, TCH…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on_us_settlement_type = NULL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Subject to network fees and float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Reference Table: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9319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ref_on_us_institutions lists all ABA routing numbers belonging to each tenant, supporting FIs with multiple routing numbers.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685800"/>
            <a:ext cx="0" cy="5394960"/>
          </a:xfrm>
          <a:prstGeom prst="line">
            <a:avLst/>
          </a:prstGeom>
          <a:noFill/>
          <a:ln w="19050">
            <a:solidFill>
              <a:srgbClr val="C5D5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0D0"/>
                </a:solidFill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FX / Multi-Currency — First-Class Columns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11521440" cy="868680"/>
          </a:xfrm>
          <a:prstGeom prst="rect">
            <a:avLst/>
          </a:prstGeom>
          <a:solidFill>
            <a:srgbClr val="FEF9E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Problem :  FX details are buried inside rail_details_json — querying cross-rail FX volume requires expensive JSONB parsing on every row.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FX columns on lake.unified_transactions: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original_currency_code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CHAR(3)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Source currency (e.g. EUR when a US customer sends EUR)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770632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70632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original_amount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044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NUMERIC(18,2)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11810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Amount in original currency before conversion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483864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483864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20440" y="3529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NUMERIC(18,8)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83133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Exchange rate: original × fx_rate = settlement amount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197096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197096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fx_rate_source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20440" y="4242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54456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FEDWIRE | SWIFT | VISA_RATE | INTERNAL_TREASURY | MANUAL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05740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2057400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fx_rate_timestamp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0" y="240487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When the rate was fixed/locked by the network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2770632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0" y="2770632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fx_charges_borne_by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311810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OUR | BEN | SHA — maps to SWIFT MT103 field 71A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3483864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00800" y="3483864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8368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settlement_currency_code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01200" y="3529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CHAR(3)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0" y="383133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 at the receiving FI (may differ from amount)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6263640"/>
            <a:ext cx="11521440" cy="411480"/>
          </a:xfrm>
          <a:prstGeom prst="rect">
            <a:avLst/>
          </a:prstGeom>
          <a:solidFill>
            <a:srgbClr val="EBF8F1"/>
          </a:solidFill>
          <a:ln w="12700">
            <a:solidFill>
              <a:srgbClr val="A7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6281928"/>
            <a:ext cx="11155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6B52"/>
                </a:solidFill>
              </a:rPr>
              <a:t>✅  Constraint chk_fx_consistency enforces: fx_rate can only be set if original_currency_code IS NOT NULL and differs from currency_code (settlement). All FX columns are set together or all NULL.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International Wire — IBAN / BIC Address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45720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54864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identity.party_address — v3 additions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swift_bic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88920" y="1234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Receiving bank SWIFT BIC — 8 or 11 chars, non-sensitive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521208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correspondent_bank_bic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17556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Intermediary/correspondent bank BIC (SWIFT MT103 field 56A)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39112"/>
            <a:ext cx="521208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correspondent_bank_name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88920" y="22768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Human-readable correspondent bank name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521208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iban_token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88920" y="27980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Vault token → full IBAN (PCI — contains account number)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81528"/>
            <a:ext cx="521208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iban_display_last_four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88920" y="3319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Non-sensitive last 4 chars for display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02736"/>
            <a:ext cx="521208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iban_country_code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3840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2-char IBAN country prefix — non-sensitive, indexable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23944"/>
            <a:ext cx="521208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61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bank_name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88920" y="43616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Foreign receiving bank name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645152"/>
            <a:ext cx="521208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882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bank_address_token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88920" y="48828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Vault token → full bank address if required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685800"/>
            <a:ext cx="571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685800"/>
            <a:ext cx="5715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6858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ISO 20022 / SWIFT MT103 Alignment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188720"/>
          <a:ext cx="5715000" cy="1691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party_address field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MT103 / pacs.008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swift_bic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Field 57A — Account With Institution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correspondent_bank_bic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Field 56A — Intermediary Institution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iban_token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Field 59A — Beneficiary IBAN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bank_name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Field 59 — Beneficiary name/bank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6126480" y="3154680"/>
            <a:ext cx="5715000" cy="1371600"/>
          </a:xfrm>
          <a:prstGeom prst="rect">
            <a:avLst/>
          </a:prstGeom>
          <a:solidFill>
            <a:srgbClr val="FFF9F9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126480" y="315468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263640" y="32461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PCI / Tokenization Rule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263640" y="3611880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IBANs contain account number information and MUST be tokenized. Fields iban_token, institution_iban_token, and biller_fi_account_token are always vault tokens — never stored raw.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iban_country_code and swift_bic are non-sensitive and stored in plain text for indexing.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126480" y="4663440"/>
            <a:ext cx="5715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126480" y="4663440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63640" y="473659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identity.party_account — also updated: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263640" y="502920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institution_swift_bic  TEXT — holding FI SWIFT BIC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institution_iban_token  TEXT — vault token → IBAN (PCI)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institution_iban_country_code  CHAR(2) — non-sensitive IBAN prefix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Party Relationships  (v3 NEW)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3035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53035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identity.party_relationship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party_id_a  UUID FK → identity.party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party_id_b  UUID FK → identity.party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relationship_type  TEXT  (constrained)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15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role_a / role_b  TEXT  (directional roles)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095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ownership_percentage  NUMERIC(5,2)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21024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effective_date / expiry_date  DATE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1970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 BOOLEAN  +  verified_by / verified_at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608576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908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relationship_source  (CIF | KYB | MANUAL…)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5102352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1846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 BOOLEAN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731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Relationship Types: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5897880" cy="5486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 Role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 Role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JOINT_ACCOUNT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JOINT_HOLDER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Two individuals share a DDA — both can transact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AUTHORIZED_SIGNER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BUSINESS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INDIVIDUAL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Employee can originate ACH/Wire on behalf of company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PARENT_SUBSIDIARY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PARENT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SUBSIDIARY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Corporate hierarchy; ownership_percentage set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BENEFICIAL_OWNER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BUSINESS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INDIVIDUAL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KYB / FinCEN UBO disclosure (25%+ threshold)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TRUST_BENEFICIARY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TRUSTEE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BENEFICIARY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Trust account — trustee controls, beneficiary receives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GUARANTOR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GUARANTOR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PRINCIPAL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Guarantee chain for loan or credit payments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POWER_OF_ATTORNEY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AGENT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PRINCIPAL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Legal authority to act on behalf of another party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Biller Registry —  BillPay Billers as Canonical Parties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11521440" cy="594360"/>
          </a:xfrm>
          <a:prstGeom prst="rect">
            <a:avLst/>
          </a:prstGeom>
          <a:solidFill>
            <a:srgbClr val="FEF9E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Problem :  biller_id referenced in BillPay transactions is not linked to identity.party. AT&amp;T might appear with different IDs across iPay, Payrailz, and BPS — making cross-FI biller analytics impossible.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3035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5303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identity.biller_registry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party_id  UUID FK → identity.party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68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biller_id  TEXT  (external aggregator ID)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163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standard_biller_id  TEXT  (NACHA BillerXchange)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644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biller_category  (UTILITIES | TELECOM…)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aggregator_name  (IPAY | PAYRAILZ | BPS)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payment_methods  TEXT[]  (ACH | RTP | CHECK…)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544568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085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biller_fi_routing  TEXT  (ABA of receiving bank)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992624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0566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biller_fi_account_token  TEXT  (PCI — vault)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55046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payable_to_name  TEXT  (for paper checks)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888736"/>
            <a:ext cx="5029200" cy="0"/>
          </a:xfrm>
          <a:prstGeom prst="line">
            <a:avLst/>
          </a:prstGeom>
          <a:noFill/>
          <a:ln w="635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595274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/ effective_date / expiry_date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141732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0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UTILITIES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95360" y="141732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95360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TELECOM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182880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18288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INSURANCE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95360" y="182880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95360" y="18288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MORTGAGE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224028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0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AUTO_LOAN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95360" y="224028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95360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CREDIT_CARD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265176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0" y="2651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GOVERNMENT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95360" y="2651760"/>
            <a:ext cx="251460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95360" y="2651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HEALTHCARE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3429000"/>
            <a:ext cx="5897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43600" y="3429000"/>
            <a:ext cx="58978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35040" y="342900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This Enables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Cross-FI biller analytics — same standard_biller_id across iPay, Payrailz, BPS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35040" y="43616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Biller payment routing — biller_fi_routing and biller_fi_account_token for ACH/RTP delivery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035040" y="479145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Category-level reporting — UTILITIES volume, TELECOM payment trends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035040" y="522122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Standardized paper check payee — payable_to_name ensures correct payee printed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035040" y="56509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Biller on-us detection — if payer FI = biller's FI, transaction is on-us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Implementation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9576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B5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78892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788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932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Identity Schema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Run party_identity_v3.sql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0391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New tables: party_relationship, biller_registry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75234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Altered tables: party_account, party_address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46557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Verify indexes and RLS policies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9893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685800"/>
            <a:ext cx="278892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685800"/>
            <a:ext cx="2788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932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Silver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325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Run unified_transactions_v3_postgresql.sql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20391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Add FX columns (nullable, backward compatible)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275234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Add SWIFT BIC and IBAN country columns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346557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Update mark_identity_resolved() signature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5989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685800"/>
            <a:ext cx="278892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63640" y="68580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932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Update ETL Workers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1325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Populate FX columns from wire/card source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20391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Populate beneficiary_swift_bic for WIRE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275234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Compute block_key for all new records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346557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Set rail_schema_version = v3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59893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235440" y="685800"/>
            <a:ext cx="278892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35440" y="685800"/>
            <a:ext cx="2788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326880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26880" y="932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IR Service (B+K)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26880" y="1325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Replace ML model with block-and-key rules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326880" y="20391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Pass block_key + match_rule to mark_identity_resolved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326880" y="275234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Seed biller_registry for all active billers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26880" y="346557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Verify idx_ut_ir_queue polling performance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281160" y="59893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8116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BDD8"/>
                </a:solidFill>
              </a:rPr>
              <a:t>What shipped in this version of the JHBI Unified Payments Schema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1051560"/>
          </a:xfrm>
          <a:prstGeom prst="rect">
            <a:avLst/>
          </a:prstGeom>
          <a:solidFill>
            <a:srgbClr val="0D2E45"/>
          </a:solidFill>
          <a:ln w="12700">
            <a:solidFill>
              <a:srgbClr val="1A4A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FX / Multi-Currency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DD8"/>
                </a:solidFill>
              </a:rPr>
              <a:t>7 first-class FX columns on unified_transactions — no more JSONB parsing for cross-rail FX reporting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47120" cy="1051560"/>
          </a:xfrm>
          <a:prstGeom prst="rect">
            <a:avLst/>
          </a:prstGeom>
          <a:solidFill>
            <a:srgbClr val="0D2E45"/>
          </a:solidFill>
          <a:ln w="12700">
            <a:solidFill>
              <a:srgbClr val="1A4A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IBAN / BIC Address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DD8"/>
                </a:solidFill>
              </a:rPr>
              <a:t>party_address and party_account gain SWIFT BIC, IBAN (tokenized), correspondent bank, aligned with SWIFT MT103 / ISO 20022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1247120" cy="1051560"/>
          </a:xfrm>
          <a:prstGeom prst="rect">
            <a:avLst/>
          </a:prstGeom>
          <a:solidFill>
            <a:srgbClr val="0D2E45"/>
          </a:solidFill>
          <a:ln w="12700">
            <a:solidFill>
              <a:srgbClr val="1A4A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023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Party Relationships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DD8"/>
                </a:solidFill>
              </a:rPr>
              <a:t>New identity.party_relationship table — joint accounts, authorized signers, beneficial owners, trust, guarantors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5303520" cy="1051560"/>
          </a:xfrm>
          <a:prstGeom prst="rect">
            <a:avLst/>
          </a:prstGeom>
          <a:solidFill>
            <a:srgbClr val="0D2E45"/>
          </a:solidFill>
          <a:ln w="12700">
            <a:solidFill>
              <a:srgbClr val="1A4A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5212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5257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Biller Registry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5623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DD8"/>
                </a:solidFill>
              </a:rPr>
              <a:t>New identity.biller_registry links BillPay billers to canonical party records — enables cross-FI biller analytics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5166360"/>
            <a:ext cx="5303520" cy="1051560"/>
          </a:xfrm>
          <a:prstGeom prst="rect">
            <a:avLst/>
          </a:prstGeom>
          <a:solidFill>
            <a:srgbClr val="0D2E45"/>
          </a:solidFill>
          <a:ln w="12700">
            <a:solidFill>
              <a:srgbClr val="1A4A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5212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5257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Block-and-Key 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5623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DD8"/>
                </a:solidFill>
              </a:rPr>
              <a:t>ML ensemble replaced by 4 deterministic rules (EXACT_TOKEN → ROUTING_ACCOUNT → PROXY_EXACT → NAME_ROUTING) with full audit trail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6580"/>
                </a:solidFill>
              </a:rPr>
              <a:t>JHBI Unified Payments Platform  ·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2128</Words>
  <Application>Microsoft Macintosh PowerPoint</Application>
  <PresentationFormat>Widescreen</PresentationFormat>
  <Paragraphs>378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Unified Payments Platform — Schema Design v3</dc:title>
  <dc:subject>PptxGenJS Presentation</dc:subject>
  <dc:creator>JHBI Architecture Team</dc:creator>
  <cp:lastModifiedBy>Adam Ames</cp:lastModifiedBy>
  <cp:revision>2</cp:revision>
  <dcterms:created xsi:type="dcterms:W3CDTF">2026-03-10T16:43:17Z</dcterms:created>
  <dcterms:modified xsi:type="dcterms:W3CDTF">2026-03-10T17:19:32Z</dcterms:modified>
</cp:coreProperties>
</file>