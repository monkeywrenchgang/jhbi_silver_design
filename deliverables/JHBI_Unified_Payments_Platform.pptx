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065A82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1828800"/>
            <a:ext cx="3657600" cy="3657600"/>
          </a:xfrm>
          <a:prstGeom prst="ellipse">
            <a:avLst/>
          </a:prstGeom>
          <a:solidFill>
            <a:srgbClr val="1C7293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595360" y="0"/>
            <a:ext cx="548640" cy="5143500"/>
          </a:xfrm>
          <a:prstGeom prst="rect">
            <a:avLst/>
          </a:prstGeom>
          <a:solidFill>
            <a:srgbClr val="02C39A">
              <a:alpha val="7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6949440" y="640080"/>
            <a:ext cx="640080" cy="64008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7955280" y="1097280"/>
            <a:ext cx="502920" cy="50292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7406640" y="2011680"/>
            <a:ext cx="548640" cy="5486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548640" y="1691640"/>
            <a:ext cx="73152" cy="1645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4"/>
          <p:cNvSpPr/>
          <p:nvPr/>
        </p:nvSpPr>
        <p:spPr>
          <a:xfrm>
            <a:off x="777240" y="1280160"/>
            <a:ext cx="5669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Unified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Platform</a:t>
            </a:r>
            <a:endParaRPr lang="en-US" sz="4000" dirty="0"/>
          </a:p>
        </p:txBody>
      </p:sp>
      <p:sp>
        <p:nvSpPr>
          <p:cNvPr id="10" name="Text 5"/>
          <p:cNvSpPr/>
          <p:nvPr/>
        </p:nvSpPr>
        <p:spPr>
          <a:xfrm>
            <a:off x="777240" y="3246120"/>
            <a:ext cx="5669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7AA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Payment Model  ·  Cloud Architecture  ·  APIs &amp; Pipelines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777240" y="470916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5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Banking Intelligence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065A82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AA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principles that shape every architectural decision in the JHBI platform.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8912" y="1005840"/>
            <a:ext cx="2633472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912" y="1005840"/>
            <a:ext cx="2633472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143000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16152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87552" y="114300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by Default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1572768"/>
            <a:ext cx="24140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stream via CDC → Kafka → BigQuery in seconds. Batch is a fallback, not the baseline.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36976" y="1005840"/>
            <a:ext cx="2633472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36976" y="1005840"/>
            <a:ext cx="2633472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Shape 11"/>
          <p:cNvSpPr/>
          <p:nvPr/>
        </p:nvSpPr>
        <p:spPr>
          <a:xfrm>
            <a:off x="3364992" y="1143000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44" y="1216152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785616" y="114300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Identity-First Data Model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64992" y="1572768"/>
            <a:ext cx="24140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transaction links to a canonical party record. Cross-rail insights start with a single identity graph.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35040" y="1005840"/>
            <a:ext cx="2633472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035040" y="1005840"/>
            <a:ext cx="2633472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Shape 16"/>
          <p:cNvSpPr/>
          <p:nvPr/>
        </p:nvSpPr>
        <p:spPr>
          <a:xfrm>
            <a:off x="6163056" y="1143000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216152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83680" y="114300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Radical Simplicity = Performance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6163056" y="1572768"/>
            <a:ext cx="24140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FX, IBAN, and IR audit fields are first-class columns — not JSON. Fast queries, obvious lineage.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38912" y="2651760"/>
            <a:ext cx="2633472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38912" y="2651760"/>
            <a:ext cx="2633472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6" name="Shape 21"/>
          <p:cNvSpPr/>
          <p:nvPr/>
        </p:nvSpPr>
        <p:spPr>
          <a:xfrm>
            <a:off x="566928" y="2788920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862072"/>
            <a:ext cx="219456" cy="21945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87552" y="278892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Economics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566928" y="3218688"/>
            <a:ext cx="24140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Storage/compute separation. Partition pruning eliminates waste. Pay for queries, not idle servers.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3236976" y="2651760"/>
            <a:ext cx="2633472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3236976" y="2651760"/>
            <a:ext cx="2633472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2" name="Shape 26"/>
          <p:cNvSpPr/>
          <p:nvPr/>
        </p:nvSpPr>
        <p:spPr>
          <a:xfrm>
            <a:off x="3364992" y="2788920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144" y="2862072"/>
            <a:ext cx="219456" cy="219456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3785616" y="278892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&amp; Pipelines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3364992" y="3218688"/>
            <a:ext cx="24140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CDC-first ingestion. Async enrichment. Every layer exposes a clean, independently deployable contract.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6035040" y="2651760"/>
            <a:ext cx="2633472" cy="148132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6035040" y="2651760"/>
            <a:ext cx="2633472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8" name="Shape 31"/>
          <p:cNvSpPr/>
          <p:nvPr/>
        </p:nvSpPr>
        <p:spPr>
          <a:xfrm>
            <a:off x="6163056" y="2788920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6208" y="2862072"/>
            <a:ext cx="219456" cy="219456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6583680" y="2788920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Intelligence First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6163056" y="3218688"/>
            <a:ext cx="241401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columns and tokenized PII are purpose-built for feature engineering. ML-ready from day one.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Payment Model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40680" y="128016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40680" y="9144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897880" y="128016"/>
            <a:ext cx="6949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739128" y="128016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739128" y="9144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196328" y="128016"/>
            <a:ext cx="6949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576" y="128016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037576" y="91440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494776" y="128016"/>
            <a:ext cx="6949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6583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payment rail — one normalized table. Source fidelity preserved in raw; analytics built on silver.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DDEA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078992"/>
            <a:ext cx="2286000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1078992"/>
            <a:ext cx="2286000" cy="365760"/>
          </a:xfrm>
          <a:prstGeom prst="rect">
            <a:avLst/>
          </a:prstGeom>
          <a:solidFill>
            <a:srgbClr val="065A82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43000"/>
            <a:ext cx="237744" cy="23774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67512" y="1078992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SYSTEMS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57200" y="1517904"/>
            <a:ext cx="210312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iPay — ACH, BillPay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— Wire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 / MC — Card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(EWS)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TCH RTP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FedNow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RDC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Payrailz / BPS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606040" y="267004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C39A"/>
                </a:solidFill>
              </a:rPr>
              <a:t>▶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2807208" y="1078992"/>
            <a:ext cx="2834640" cy="3547872"/>
          </a:xfrm>
          <a:prstGeom prst="rect">
            <a:avLst/>
          </a:prstGeom>
          <a:solidFill>
            <a:srgbClr val="0A2342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15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2807208" y="1078992"/>
            <a:ext cx="2834640" cy="365760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1143000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154680" y="10789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LAYER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2944368" y="151790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lake.unified_transactions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2944368" y="1874520"/>
            <a:ext cx="2651760" cy="2679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rails, one schema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/ multi-currency cols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Originator &amp; beneficiary IDs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 / BIC routing fields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On-us indicator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Block-and-key IR audit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 JSON extension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partitioned + clustered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641848" y="2670048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2C39A"/>
                </a:solidFill>
              </a:rPr>
              <a:t>▶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843016" y="1078992"/>
            <a:ext cx="2423160" cy="3547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5843016" y="1078992"/>
            <a:ext cx="2423160" cy="365760"/>
          </a:xfrm>
          <a:prstGeom prst="rect">
            <a:avLst/>
          </a:prstGeom>
          <a:solidFill>
            <a:srgbClr val="1C7293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143000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190488" y="1078992"/>
            <a:ext cx="198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5980176" y="1517904"/>
            <a:ext cx="224028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analytics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quality metrics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Party records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Biller registry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Identity: Relationships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/ lineage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&amp; reporting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657600" cy="3657600"/>
          </a:xfrm>
          <a:prstGeom prst="ellipse">
            <a:avLst/>
          </a:prstGeom>
          <a:solidFill>
            <a:srgbClr val="DDEAF2">
              <a:alpha val="5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unified_transactions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480560" y="1828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 out of the box — no JSON parsing required.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DDEAF2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1115568"/>
            <a:ext cx="4041648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1115568"/>
            <a:ext cx="64008" cy="171907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" y="1243584"/>
            <a:ext cx="402336" cy="402336"/>
          </a:xfrm>
          <a:prstGeom prst="ellipse">
            <a:avLst/>
          </a:prstGeom>
          <a:solidFill>
            <a:srgbClr val="F0F4F8"/>
          </a:solidFill>
          <a:ln w="12700">
            <a:solidFill>
              <a:srgbClr val="D0DD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16736"/>
            <a:ext cx="256032" cy="2560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87552" y="124358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/ Multi-Currency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12064" y="1719072"/>
            <a:ext cx="376732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first-class columns: original_currency_code, original_amount, fx_rate, fx_rate_source, fx_rate_timestamp, fx_charges_borne_by, settlement_currency_code. Cross-rail FX reporting in simple SQL.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0" y="1115568"/>
            <a:ext cx="4041648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1115568"/>
            <a:ext cx="64008" cy="17190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5" name="Shape 12"/>
          <p:cNvSpPr/>
          <p:nvPr/>
        </p:nvSpPr>
        <p:spPr>
          <a:xfrm>
            <a:off x="4718304" y="1243584"/>
            <a:ext cx="402336" cy="402336"/>
          </a:xfrm>
          <a:prstGeom prst="ellipse">
            <a:avLst/>
          </a:prstGeom>
          <a:solidFill>
            <a:srgbClr val="F0F4F8"/>
          </a:solidFill>
          <a:ln w="12700">
            <a:solidFill>
              <a:srgbClr val="D0DDE8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1316736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212080" y="124358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4736592" y="1719072"/>
            <a:ext cx="376732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block-and-key matching links transactions to canonical party records. originator_block_key and match_rule columns make every decision auditable.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347472" y="3017520"/>
            <a:ext cx="4041648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47472" y="3017520"/>
            <a:ext cx="64008" cy="171907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Shape 17"/>
          <p:cNvSpPr/>
          <p:nvPr/>
        </p:nvSpPr>
        <p:spPr>
          <a:xfrm>
            <a:off x="493776" y="3145536"/>
            <a:ext cx="402336" cy="402336"/>
          </a:xfrm>
          <a:prstGeom prst="ellipse">
            <a:avLst/>
          </a:prstGeom>
          <a:solidFill>
            <a:srgbClr val="F0F4F8"/>
          </a:solidFill>
          <a:ln w="12700">
            <a:solidFill>
              <a:srgbClr val="D0DDE8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218688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87552" y="3145536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Wires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512064" y="3621024"/>
            <a:ext cx="376732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originator_swift_bic, beneficiary_swift_bic, and IBAN country codes on the row. Full IBAN tokens and correspondent BICs on identity.party_address — ISO 20022 aligned.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0" y="3017520"/>
            <a:ext cx="4041648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572000" y="3017520"/>
            <a:ext cx="64008" cy="171907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Shape 22"/>
          <p:cNvSpPr/>
          <p:nvPr/>
        </p:nvSpPr>
        <p:spPr>
          <a:xfrm>
            <a:off x="4718304" y="3145536"/>
            <a:ext cx="402336" cy="402336"/>
          </a:xfrm>
          <a:prstGeom prst="ellipse">
            <a:avLst/>
          </a:prstGeom>
          <a:solidFill>
            <a:srgbClr val="F0F4F8"/>
          </a:solidFill>
          <a:ln w="12700">
            <a:solidFill>
              <a:srgbClr val="D0DDE8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3218688"/>
            <a:ext cx="256032" cy="25603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212080" y="3145536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On-Us Detection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4736592" y="3621024"/>
            <a:ext cx="3767328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is_on_us derived at ETL time via ref_on_us_institutions. Supports book-transfer routing and cross-rail on-us analytics. Zero runtime lookups.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3200400"/>
            <a:ext cx="4572000" cy="4572000"/>
          </a:xfrm>
          <a:prstGeom prst="ellipse">
            <a:avLst/>
          </a:prstGeom>
          <a:solidFill>
            <a:srgbClr val="065A82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Cloud?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7AA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BigQuery gives JHBI payment analytics the scale and economics that on-prem can't match.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2606040" cy="138988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85216" y="1115568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18872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115568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Scale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" y="1554480"/>
            <a:ext cx="23865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auto-scales to query volume. No cluster sizing, no idle capacity. Petabyte-scale payment history.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64408" y="1005840"/>
            <a:ext cx="2606040" cy="138988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92424" y="1115568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576" y="118872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813048" y="1115568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/ Compute Split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392424" y="1554480"/>
            <a:ext cx="23865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is cheap object-store. Compute spins up per query. Pay for queries, not overnight idle servers.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071616" y="1005840"/>
            <a:ext cx="2606040" cy="138988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199632" y="1115568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18872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20256" y="1115568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Isolation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199632" y="1554480"/>
            <a:ext cx="23865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 lives in its own dataset with row-level security. Full data isolation — no cross-tenant leakage.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" y="2578608"/>
            <a:ext cx="2606040" cy="138988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85216" y="2688336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761488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05840" y="268833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Ingest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85216" y="3127248"/>
            <a:ext cx="23865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 → Dataflow → BigQuery streaming. Transactions visible in analytics seconds after settlement.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3264408" y="2578608"/>
            <a:ext cx="2606040" cy="138988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392424" y="2688336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576" y="2761488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813048" y="268833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 Cost Model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3392424" y="3127248"/>
            <a:ext cx="23865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pruning and clustering keep per-query scan costs small and predictable at any scale.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071616" y="2578608"/>
            <a:ext cx="2606040" cy="1389888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199632" y="2688336"/>
            <a:ext cx="365760" cy="365760"/>
          </a:xfrm>
          <a:prstGeom prst="ellipse">
            <a:avLst/>
          </a:prstGeom>
          <a:solidFill>
            <a:srgbClr val="0A2342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2784" y="2761488"/>
            <a:ext cx="219456" cy="219456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620256" y="2688336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Operations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6199632" y="3127248"/>
            <a:ext cx="2386584" cy="7680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patching, backups, or failover config. Engineering goes to product features. 99.99% SLA built in.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&amp; Data Pipelines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data moves from source systems into BigQuery — and how identity resolution enriches it.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DDEAF2"/>
          </a:solidFill>
          <a:ln/>
        </p:spPr>
      </p:sp>
      <p:sp>
        <p:nvSpPr>
          <p:cNvPr id="5" name="Text 3"/>
          <p:cNvSpPr/>
          <p:nvPr/>
        </p:nvSpPr>
        <p:spPr>
          <a:xfrm>
            <a:off x="320040" y="10424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PIPELINE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0040" y="1298448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98448"/>
            <a:ext cx="1389888" cy="54864"/>
          </a:xfrm>
          <a:prstGeom prst="rect">
            <a:avLst/>
          </a:prstGeom>
          <a:solidFill>
            <a:srgbClr val="065A8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89888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1371600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11480" y="1810512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iPay · EPS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Payrailz · BPS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746504" y="164592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</a:rPr>
              <a:t>▶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965960" y="1298448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965960" y="1298448"/>
            <a:ext cx="1389888" cy="54864"/>
          </a:xfrm>
          <a:prstGeom prst="rect">
            <a:avLst/>
          </a:prstGeom>
          <a:solidFill>
            <a:srgbClr val="1C7293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389888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286000" y="1371600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/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2057400" y="1810512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events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392424" y="164592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</a:rPr>
              <a:t>▶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611880" y="1298448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611880" y="1298448"/>
            <a:ext cx="1389888" cy="54864"/>
          </a:xfrm>
          <a:prstGeom prst="rect">
            <a:avLst/>
          </a:prstGeom>
          <a:solidFill>
            <a:srgbClr val="065A82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1389888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931920" y="1371600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3703320" y="1810512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→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→ silver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5038344" y="164592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</a:rPr>
              <a:t>▶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257800" y="1298448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257800" y="1298448"/>
            <a:ext cx="1389888" cy="54864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1389888"/>
            <a:ext cx="201168" cy="20116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577840" y="1371600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349240" y="1810512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insert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lake.*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320040" y="2542032"/>
            <a:ext cx="6583680" cy="27432"/>
          </a:xfrm>
          <a:prstGeom prst="rect">
            <a:avLst/>
          </a:prstGeom>
          <a:solidFill>
            <a:srgbClr val="DDEAF2"/>
          </a:solidFill>
          <a:ln/>
        </p:spPr>
      </p:sp>
      <p:sp>
        <p:nvSpPr>
          <p:cNvPr id="30" name="Text 24"/>
          <p:cNvSpPr/>
          <p:nvPr/>
        </p:nvSpPr>
        <p:spPr>
          <a:xfrm>
            <a:off x="320040" y="25968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 SERVICE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320040" y="2862072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320040" y="2862072"/>
            <a:ext cx="1389888" cy="54864"/>
          </a:xfrm>
          <a:prstGeom prst="rect">
            <a:avLst/>
          </a:prstGeom>
          <a:solidFill>
            <a:srgbClr val="1C7293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953512"/>
            <a:ext cx="201168" cy="201168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640080" y="2935224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411480" y="3374136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UNRESOLVED rows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queue view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1746504" y="320954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</a:rPr>
              <a:t>▶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1965960" y="2862072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1965960" y="2862072"/>
            <a:ext cx="1389888" cy="54864"/>
          </a:xfrm>
          <a:prstGeom prst="rect">
            <a:avLst/>
          </a:prstGeom>
          <a:solidFill>
            <a:srgbClr val="065A82"/>
          </a:solidFill>
          <a:ln/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400" y="2953512"/>
            <a:ext cx="201168" cy="20116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2286000" y="2935224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2057400" y="3374136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routing:021…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proxy:hash…</a:t>
            </a:r>
            <a:endParaRPr lang="en-US" sz="1000" dirty="0"/>
          </a:p>
        </p:txBody>
      </p:sp>
      <p:sp>
        <p:nvSpPr>
          <p:cNvPr id="42" name="Text 34"/>
          <p:cNvSpPr/>
          <p:nvPr/>
        </p:nvSpPr>
        <p:spPr>
          <a:xfrm>
            <a:off x="3392424" y="320954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</a:rPr>
              <a:t>▶</a:t>
            </a:r>
            <a:endParaRPr lang="en-US" sz="1100" dirty="0"/>
          </a:p>
        </p:txBody>
      </p:sp>
      <p:sp>
        <p:nvSpPr>
          <p:cNvPr id="43" name="Shape 35"/>
          <p:cNvSpPr/>
          <p:nvPr/>
        </p:nvSpPr>
        <p:spPr>
          <a:xfrm>
            <a:off x="3611880" y="2862072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3611880" y="2862072"/>
            <a:ext cx="1389888" cy="54864"/>
          </a:xfrm>
          <a:prstGeom prst="rect">
            <a:avLst/>
          </a:prstGeom>
          <a:solidFill>
            <a:srgbClr val="1C7293"/>
          </a:solidFill>
          <a:ln/>
        </p:spPr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3320" y="2953512"/>
            <a:ext cx="201168" cy="201168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3931920" y="2935224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100" dirty="0"/>
          </a:p>
        </p:txBody>
      </p:sp>
      <p:sp>
        <p:nvSpPr>
          <p:cNvPr id="47" name="Text 38"/>
          <p:cNvSpPr/>
          <p:nvPr/>
        </p:nvSpPr>
        <p:spPr>
          <a:xfrm>
            <a:off x="3703320" y="3374136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EXACT_TOKEN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ROUTING_ACCT</a:t>
            </a:r>
            <a:endParaRPr lang="en-US" sz="1000" dirty="0"/>
          </a:p>
        </p:txBody>
      </p:sp>
      <p:sp>
        <p:nvSpPr>
          <p:cNvPr id="48" name="Text 39"/>
          <p:cNvSpPr/>
          <p:nvPr/>
        </p:nvSpPr>
        <p:spPr>
          <a:xfrm>
            <a:off x="5038344" y="3209544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2C39A"/>
                </a:solidFill>
              </a:rPr>
              <a:t>▶</a:t>
            </a:r>
            <a:endParaRPr lang="en-US" sz="1100" dirty="0"/>
          </a:p>
        </p:txBody>
      </p:sp>
      <p:sp>
        <p:nvSpPr>
          <p:cNvPr id="49" name="Shape 40"/>
          <p:cNvSpPr/>
          <p:nvPr/>
        </p:nvSpPr>
        <p:spPr>
          <a:xfrm>
            <a:off x="5257800" y="2862072"/>
            <a:ext cx="13898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DE8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Shape 41"/>
          <p:cNvSpPr/>
          <p:nvPr/>
        </p:nvSpPr>
        <p:spPr>
          <a:xfrm>
            <a:off x="5257800" y="2862072"/>
            <a:ext cx="1389888" cy="54864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49240" y="2953512"/>
            <a:ext cx="201168" cy="201168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5577840" y="2935224"/>
            <a:ext cx="9784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</a:t>
            </a:r>
            <a:endParaRPr lang="en-US" sz="1100" dirty="0"/>
          </a:p>
        </p:txBody>
      </p:sp>
      <p:sp>
        <p:nvSpPr>
          <p:cNvPr id="53" name="Text 43"/>
          <p:cNvSpPr/>
          <p:nvPr/>
        </p:nvSpPr>
        <p:spPr>
          <a:xfrm>
            <a:off x="5349240" y="3374136"/>
            <a:ext cx="12527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mark_identity_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A6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resolved()</a:t>
            </a:r>
            <a:endParaRPr lang="en-US" sz="1000" dirty="0"/>
          </a:p>
        </p:txBody>
      </p:sp>
      <p:sp>
        <p:nvSpPr>
          <p:cNvPr id="54" name="Shape 44"/>
          <p:cNvSpPr/>
          <p:nvPr/>
        </p:nvSpPr>
        <p:spPr>
          <a:xfrm>
            <a:off x="7040880" y="1298448"/>
            <a:ext cx="1737360" cy="2642616"/>
          </a:xfrm>
          <a:prstGeom prst="rect">
            <a:avLst/>
          </a:prstGeom>
          <a:solidFill>
            <a:srgbClr val="0A234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177800" dist="50800" dir="8100000">
              <a:srgbClr val="000000">
                <a:alpha val="15000"/>
              </a:srgbClr>
            </a:outerShdw>
          </a:effectLst>
        </p:spPr>
      </p:sp>
      <p:sp>
        <p:nvSpPr>
          <p:cNvPr id="55" name="Shape 45"/>
          <p:cNvSpPr/>
          <p:nvPr/>
        </p:nvSpPr>
        <p:spPr>
          <a:xfrm>
            <a:off x="7040880" y="1298448"/>
            <a:ext cx="1737360" cy="54864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68896" y="1408176"/>
            <a:ext cx="219456" cy="219456"/>
          </a:xfrm>
          <a:prstGeom prst="rect">
            <a:avLst/>
          </a:prstGeom>
        </p:spPr>
      </p:pic>
      <p:sp>
        <p:nvSpPr>
          <p:cNvPr id="57" name="Text 46"/>
          <p:cNvSpPr/>
          <p:nvPr/>
        </p:nvSpPr>
        <p:spPr>
          <a:xfrm>
            <a:off x="7424928" y="1389888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APIS</a:t>
            </a:r>
            <a:endParaRPr lang="en-US" sz="1100" dirty="0"/>
          </a:p>
        </p:txBody>
      </p:sp>
      <p:sp>
        <p:nvSpPr>
          <p:cNvPr id="58" name="Text 47"/>
          <p:cNvSpPr/>
          <p:nvPr/>
        </p:nvSpPr>
        <p:spPr>
          <a:xfrm>
            <a:off x="7168896" y="1755648"/>
            <a:ext cx="1536192" cy="2093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gRPC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 Storage API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layer views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queries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Looker / Tableau</a:t>
            </a:r>
            <a:endParaRPr lang="en-US" sz="1100" dirty="0"/>
          </a:p>
        </p:txBody>
      </p:sp>
      <p:sp>
        <p:nvSpPr>
          <p:cNvPr id="59" name="Text 48"/>
          <p:cNvSpPr/>
          <p:nvPr/>
        </p:nvSpPr>
        <p:spPr>
          <a:xfrm>
            <a:off x="365760" y="489204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AE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Unified Payments Platform  · 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065A82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We've Built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749808"/>
            <a:ext cx="148132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74980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1078992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21408" y="749808"/>
            <a:ext cx="148132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121408" y="74980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121408" y="1078992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85616" y="749808"/>
            <a:ext cx="148132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85616" y="74980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785616" y="1078992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Cols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49824" y="749808"/>
            <a:ext cx="148132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49824" y="74980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449824" y="1078992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Rules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114032" y="749808"/>
            <a:ext cx="1481328" cy="594360"/>
          </a:xfrm>
          <a:prstGeom prst="rect">
            <a:avLst/>
          </a:prstGeom>
          <a:solidFill>
            <a:srgbClr val="065A82"/>
          </a:solidFill>
          <a:ln w="12700">
            <a:solidFill>
              <a:srgbClr val="1A4A7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114032" y="74980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14032" y="1078992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14630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transaction table across 8 payment rails — ACH, Wire, Card, Zelle, RTP, FedNow, Check/RDC, BillPay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/ multi-currency as first-class columns — no JSON parsing for cross-rail FX reporting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 via block-and-key — deterministic, auditable, no ML model to operate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 / BIC address model aligned with ISO 20022 pacs.008 and SWIFT MT103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 relationships and Biller Registry — joint accounts, UBO, and cross-FI biller analytics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A8C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DDL with partitioning, clustering, and row-level security — production-ready on GCP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ingestion pipeline: source → Kafka → ETL workers → BigQuery streaming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github.com/MonkeyWrenchGang/jhbi_silver_design</a:t>
            </a:r>
            <a:endParaRPr lang="en-US" sz="10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1568" y="4828032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Unified Payments Platform</dc:title>
  <dc:subject>PptxGenJS Presentation</dc:subject>
  <dc:creator>PptxGenJS</dc:creator>
  <cp:lastModifiedBy>PptxGenJS</cp:lastModifiedBy>
  <cp:revision>1</cp:revision>
  <dcterms:created xsi:type="dcterms:W3CDTF">2026-03-10T19:00:39Z</dcterms:created>
  <dcterms:modified xsi:type="dcterms:W3CDTF">2026-03-10T19:00:39Z</dcterms:modified>
</cp:coreProperties>
</file>